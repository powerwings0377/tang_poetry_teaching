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EA"/>
    <a:srgbClr val="B59586"/>
    <a:srgbClr val="839379"/>
    <a:srgbClr val="6884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59DA66-688F-4B1D-98A5-B3558C74F1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5AB024C-07EB-4F26-AC00-8B04F40C89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304517-6CF0-4DAE-A050-2AF6A0AF0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E8289-8BAB-4875-8BD6-F2204B22EE12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188AF4-7DAA-481C-B6B9-7B1BEEE99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8144CD-4454-421C-B167-53A0F9A98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C0806-1C03-48FC-B8B0-0D22CA33D0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0182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804DA7-76D9-4D54-8422-152D21E9B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6E73C6-62B8-479C-B300-781E2D1FB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3FD242-CCDF-439F-8256-8C74EF807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E8289-8BAB-4875-8BD6-F2204B22EE12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C4EABA-AD90-4B9A-A87A-126C1ED46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D914AE-6AF8-4C9D-ACF9-B52E89C68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C0806-1C03-48FC-B8B0-0D22CA33D0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947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D5D09F-8F3D-4F9F-8251-243DDE037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E3EA4B-3441-4747-80E4-C8EB571B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9B308C-EDE8-49F4-BB28-7B9AEFD70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E8289-8BAB-4875-8BD6-F2204B22EE12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1D801B-C1E4-448A-8DB6-575A879D6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325C67-29EF-4458-A7E7-3C2D7ED81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C0806-1C03-48FC-B8B0-0D22CA33D0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8794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367B13-C086-4BE9-A81B-085D6C3BD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A5A073-4C30-4E17-A720-B974F0DB03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B14835-E68B-4255-99D2-856D5D648B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405540-84FC-4E1E-AEAE-7CEEA1893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E8289-8BAB-4875-8BD6-F2204B22EE12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A203A7-EAD3-4828-B657-4BBF15BF6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4ECC2C-F7E5-4CF4-B197-D8CB8B2E9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C0806-1C03-48FC-B8B0-0D22CA33D0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827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CB5878-40DE-409F-ACFF-5F1B960C7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19C6F9-D73E-474E-99E2-D9FFF4DE2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2C88303-8754-4228-915B-8AA15BEEF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826E4CF-EA8A-462E-869B-20A0D48355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5C00800-2417-4A63-A2B3-64581D49FC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3C0ED82-1D10-4B5C-B5DB-8010C5A78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E8289-8BAB-4875-8BD6-F2204B22EE12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9D61F33-60D3-4729-95FA-450D212CB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3FC8579-4C07-4005-8CA8-6CA9325CD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C0806-1C03-48FC-B8B0-0D22CA33D0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241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6E4C13-49A9-40D2-91B2-4C7B9856F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A232AFA-2ED3-4C62-8CBB-AACB8CF53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E8289-8BAB-4875-8BD6-F2204B22EE12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D07C1B7-2D96-40FB-96AD-EAFD946BA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BC8B80-9F56-4CD7-B242-C916B0F89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C0806-1C03-48FC-B8B0-0D22CA33D0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693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D5CE4CD-1F0F-4972-A76B-52CDABD1E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E8289-8BAB-4875-8BD6-F2204B22EE12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0FF3019-64EE-4861-AC13-F988D3C55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C3C9CB-F638-4537-9D22-A1EA61AD9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C0806-1C03-48FC-B8B0-0D22CA33D0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5193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6182B7-6F55-4D73-855A-C1F6A4A16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BDB837-4B11-40BB-9796-F7DC91784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F6F15D2-E148-4046-9E75-8329D14B33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253C90-5AB3-47BD-ABAE-4760E76B6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E8289-8BAB-4875-8BD6-F2204B22EE12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BF8FE5-2AA2-4777-8C43-4FF19F8A0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7BE8D4-9C3F-4E75-B9C8-0A21DED3C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C0806-1C03-48FC-B8B0-0D22CA33D0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755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E19341-97F3-4E09-A58B-796DA12F0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069A4B9-AD4C-46CE-948E-125DD50E37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2307DBD-E369-4BEC-AE22-B1FB8FF74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B314F97-3282-4BF9-AF97-34066A5F7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E8289-8BAB-4875-8BD6-F2204B22EE12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BA6EB4-7DBD-481B-AC5F-15F6C0B8B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2C0C5C-CA40-45B6-B4DB-0310A0323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C0806-1C03-48FC-B8B0-0D22CA33D0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6381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4ACCAA-C080-465E-AA9A-3B7E8302F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4F57F7-97E9-4BDC-824A-016840A4E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0BD62C-5E91-4F8F-B6AF-D547FC102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E8289-8BAB-4875-8BD6-F2204B22EE12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D151D1-ED43-4D91-B032-0C6B6361F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B27725-50CB-4C97-993A-26F7074DD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C0806-1C03-48FC-B8B0-0D22CA33D0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1439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CB7B52C-E64C-486F-B03D-1E13DFC68C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9E8E9EB-E7E9-4CF8-810A-1F0F68403C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A31D57-1D87-4A4A-A53B-412B7F704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E8289-8BAB-4875-8BD6-F2204B22EE12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B8A14F-66D1-44BD-A778-71F3D9464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760D14-4A3B-4730-8317-EF9901952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C0806-1C03-48FC-B8B0-0D22CA33D0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4702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24FAC8-EB0E-4DD7-B9A5-5DE6373C0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CCE860-5C6F-4E1F-9D79-0C7D35A33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D2806F-F0A1-4605-B44F-45FABAB3D3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E8289-8BAB-4875-8BD6-F2204B22EE12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C584DE-201B-49A8-A452-4C67F1E90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103CED-7A8E-4285-A3CC-4860F73C8D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EC0806-1C03-48FC-B8B0-0D22CA33D0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244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D040B274-63E0-48A7-983F-F58E2DA900AC}"/>
              </a:ext>
            </a:extLst>
          </p:cNvPr>
          <p:cNvSpPr/>
          <p:nvPr/>
        </p:nvSpPr>
        <p:spPr>
          <a:xfrm>
            <a:off x="562707" y="607537"/>
            <a:ext cx="4352137" cy="5198178"/>
          </a:xfrm>
          <a:prstGeom prst="roundRect">
            <a:avLst>
              <a:gd name="adj" fmla="val 6928"/>
            </a:avLst>
          </a:prstGeom>
          <a:solidFill>
            <a:srgbClr val="F0F0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DF25F8F-429B-4DC3-9157-757AD2D1865D}"/>
              </a:ext>
            </a:extLst>
          </p:cNvPr>
          <p:cNvSpPr/>
          <p:nvPr/>
        </p:nvSpPr>
        <p:spPr>
          <a:xfrm>
            <a:off x="5415728" y="612320"/>
            <a:ext cx="4817366" cy="5193395"/>
          </a:xfrm>
          <a:prstGeom prst="roundRect">
            <a:avLst>
              <a:gd name="adj" fmla="val 6928"/>
            </a:avLst>
          </a:prstGeom>
          <a:solidFill>
            <a:srgbClr val="F0F0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E4EBCD67-78FA-4BFE-95A6-50547E324F91}"/>
              </a:ext>
            </a:extLst>
          </p:cNvPr>
          <p:cNvSpPr/>
          <p:nvPr/>
        </p:nvSpPr>
        <p:spPr>
          <a:xfrm>
            <a:off x="856016" y="1401462"/>
            <a:ext cx="3764265" cy="1877786"/>
          </a:xfrm>
          <a:prstGeom prst="roundRect">
            <a:avLst/>
          </a:prstGeom>
          <a:solidFill>
            <a:srgbClr val="6884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Tang Poems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corpus &amp;</a:t>
            </a:r>
          </a:p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41,821 poems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1804F95-3004-496D-A433-083DD06ED913}"/>
              </a:ext>
            </a:extLst>
          </p:cNvPr>
          <p:cNvSpPr/>
          <p:nvPr/>
        </p:nvSpPr>
        <p:spPr>
          <a:xfrm>
            <a:off x="5733143" y="1283019"/>
            <a:ext cx="4238171" cy="1328054"/>
          </a:xfrm>
          <a:prstGeom prst="roundRect">
            <a:avLst/>
          </a:prstGeom>
          <a:solidFill>
            <a:srgbClr val="8393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Imagery mining </a:t>
            </a:r>
          </a:p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instruments: Byte Pair Encoding (BPE) </a:t>
            </a:r>
          </a:p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Poetic Cohesion Index (PCI)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06A2A03-8B90-4251-A20A-19F31768CF15}"/>
              </a:ext>
            </a:extLst>
          </p:cNvPr>
          <p:cNvSpPr/>
          <p:nvPr/>
        </p:nvSpPr>
        <p:spPr>
          <a:xfrm>
            <a:off x="856016" y="3679268"/>
            <a:ext cx="3764264" cy="1877786"/>
          </a:xfrm>
          <a:prstGeom prst="roundRect">
            <a:avLst/>
          </a:prstGeom>
          <a:solidFill>
            <a:srgbClr val="6884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Couplet-window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</a:t>
            </a:r>
          </a:p>
          <a:p>
            <a:pPr algn="ctr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terminal punctuation &amp;</a:t>
            </a:r>
          </a:p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lines per window 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685FBE6-CEA0-4767-9B47-10197D27442B}"/>
              </a:ext>
            </a:extLst>
          </p:cNvPr>
          <p:cNvSpPr/>
          <p:nvPr/>
        </p:nvSpPr>
        <p:spPr>
          <a:xfrm>
            <a:off x="-27794857" y="1551214"/>
            <a:ext cx="2841172" cy="1877786"/>
          </a:xfrm>
          <a:prstGeom prst="roundRect">
            <a:avLst/>
          </a:prstGeom>
          <a:solidFill>
            <a:srgbClr val="6884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Couplet-window</a:t>
            </a:r>
          </a:p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C98C34E-260E-46D8-B9D1-CCCCBA134930}"/>
              </a:ext>
            </a:extLst>
          </p:cNvPr>
          <p:cNvSpPr/>
          <p:nvPr/>
        </p:nvSpPr>
        <p:spPr>
          <a:xfrm flipV="1">
            <a:off x="940828" y="-26312586"/>
            <a:ext cx="2841172" cy="6602186"/>
          </a:xfrm>
          <a:prstGeom prst="roundRect">
            <a:avLst/>
          </a:prstGeom>
          <a:solidFill>
            <a:srgbClr val="6884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Couplet-window</a:t>
            </a:r>
          </a:p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3A5D3CE-A551-442C-A8AD-E03E7BCBCBE7}"/>
              </a:ext>
            </a:extLst>
          </p:cNvPr>
          <p:cNvSpPr/>
          <p:nvPr/>
        </p:nvSpPr>
        <p:spPr>
          <a:xfrm flipV="1">
            <a:off x="40610185" y="92528"/>
            <a:ext cx="2841172" cy="6602186"/>
          </a:xfrm>
          <a:prstGeom prst="roundRect">
            <a:avLst/>
          </a:prstGeom>
          <a:solidFill>
            <a:srgbClr val="6884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Couplet-window</a:t>
            </a:r>
          </a:p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2ABC7FA-3F3F-4E40-AE04-4296B6197A28}"/>
              </a:ext>
            </a:extLst>
          </p:cNvPr>
          <p:cNvSpPr/>
          <p:nvPr/>
        </p:nvSpPr>
        <p:spPr>
          <a:xfrm flipV="1">
            <a:off x="6516128" y="35550928"/>
            <a:ext cx="2841172" cy="6602186"/>
          </a:xfrm>
          <a:prstGeom prst="roundRect">
            <a:avLst/>
          </a:prstGeom>
          <a:solidFill>
            <a:srgbClr val="6884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Couplet-window</a:t>
            </a:r>
          </a:p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CA7673E-E9AF-4110-9046-A89247477D6D}"/>
              </a:ext>
            </a:extLst>
          </p:cNvPr>
          <p:cNvSpPr txBox="1"/>
          <p:nvPr/>
        </p:nvSpPr>
        <p:spPr>
          <a:xfrm>
            <a:off x="6516099" y="757289"/>
            <a:ext cx="2601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EVIDENCE ENGINE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1E103FF-1E53-4CCD-B8F6-522BD199967B}"/>
              </a:ext>
            </a:extLst>
          </p:cNvPr>
          <p:cNvSpPr/>
          <p:nvPr/>
        </p:nvSpPr>
        <p:spPr>
          <a:xfrm>
            <a:off x="5733142" y="2774362"/>
            <a:ext cx="4238171" cy="1328054"/>
          </a:xfrm>
          <a:prstGeom prst="roundRect">
            <a:avLst/>
          </a:prstGeom>
          <a:solidFill>
            <a:srgbClr val="8393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Seed-based affective scoring </a:t>
            </a:r>
          </a:p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measure: Emotion Proximity Index (EPI)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6575C20-8FC7-4C9B-9CB2-6F740DB0E000}"/>
              </a:ext>
            </a:extLst>
          </p:cNvPr>
          <p:cNvSpPr/>
          <p:nvPr/>
        </p:nvSpPr>
        <p:spPr>
          <a:xfrm>
            <a:off x="5733142" y="4265705"/>
            <a:ext cx="4238171" cy="1328054"/>
          </a:xfrm>
          <a:prstGeom prst="roundRect">
            <a:avLst/>
          </a:prstGeom>
          <a:solidFill>
            <a:srgbClr val="8393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Co-occurrence measurement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easure: Co-occurrence strength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Cooc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F014EBE-A9D2-4AE5-B7BF-B986E4EC26DD}"/>
              </a:ext>
            </a:extLst>
          </p:cNvPr>
          <p:cNvSpPr/>
          <p:nvPr/>
        </p:nvSpPr>
        <p:spPr>
          <a:xfrm>
            <a:off x="10745762" y="612320"/>
            <a:ext cx="4751614" cy="5193395"/>
          </a:xfrm>
          <a:prstGeom prst="roundRect">
            <a:avLst>
              <a:gd name="adj" fmla="val 6928"/>
            </a:avLst>
          </a:prstGeom>
          <a:solidFill>
            <a:srgbClr val="F0F0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71F99A5-A8C2-40E5-86F7-D22F49122926}"/>
              </a:ext>
            </a:extLst>
          </p:cNvPr>
          <p:cNvSpPr/>
          <p:nvPr/>
        </p:nvSpPr>
        <p:spPr>
          <a:xfrm>
            <a:off x="11031661" y="4287056"/>
            <a:ext cx="4238171" cy="1328054"/>
          </a:xfrm>
          <a:prstGeom prst="roundRect">
            <a:avLst/>
          </a:prstGeom>
          <a:solidFill>
            <a:srgbClr val="B595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Textbook canon</a:t>
            </a:r>
          </a:p>
          <a:p>
            <a:pPr algn="ctr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 on the poems students read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B105202-79BE-4171-B21A-DFC3CCE5618B}"/>
              </a:ext>
            </a:extLst>
          </p:cNvPr>
          <p:cNvSpPr/>
          <p:nvPr/>
        </p:nvSpPr>
        <p:spPr>
          <a:xfrm>
            <a:off x="11031661" y="1297054"/>
            <a:ext cx="4238171" cy="1328054"/>
          </a:xfrm>
          <a:prstGeom prst="roundRect">
            <a:avLst/>
          </a:prstGeom>
          <a:solidFill>
            <a:srgbClr val="B595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1: Signature imageries</a:t>
            </a:r>
          </a:p>
          <a:p>
            <a:pPr algn="ctr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 poet style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5BE54066-2B01-484B-9863-517C6D861030}"/>
              </a:ext>
            </a:extLst>
          </p:cNvPr>
          <p:cNvSpPr/>
          <p:nvPr/>
        </p:nvSpPr>
        <p:spPr>
          <a:xfrm>
            <a:off x="11031661" y="2788397"/>
            <a:ext cx="4238171" cy="1328054"/>
          </a:xfrm>
          <a:prstGeom prst="roundRect">
            <a:avLst/>
          </a:prstGeom>
          <a:solidFill>
            <a:srgbClr val="B595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2: Imagery trajectories</a:t>
            </a:r>
          </a:p>
          <a:p>
            <a:pPr algn="ctr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 literary history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A06304A-6892-48BA-9BAA-E2FA044836E6}"/>
              </a:ext>
            </a:extLst>
          </p:cNvPr>
          <p:cNvSpPr txBox="1"/>
          <p:nvPr/>
        </p:nvSpPr>
        <p:spPr>
          <a:xfrm>
            <a:off x="11474141" y="764433"/>
            <a:ext cx="343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TEACHING APPLICATIONS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0C81210-D1D4-4FA2-B1BF-4871EE4DFAB6}"/>
              </a:ext>
            </a:extLst>
          </p:cNvPr>
          <p:cNvSpPr txBox="1"/>
          <p:nvPr/>
        </p:nvSpPr>
        <p:spPr>
          <a:xfrm>
            <a:off x="4237024" y="6239360"/>
            <a:ext cx="6814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every activity ends by returning to close reading of the poems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5B57D922-C542-4A83-8EFF-53441DC64369}"/>
              </a:ext>
            </a:extLst>
          </p:cNvPr>
          <p:cNvCxnSpPr>
            <a:cxnSpLocks/>
            <a:stCxn id="12" idx="3"/>
            <a:endCxn id="20" idx="1"/>
          </p:cNvCxnSpPr>
          <p:nvPr/>
        </p:nvCxnSpPr>
        <p:spPr>
          <a:xfrm>
            <a:off x="10233094" y="3209018"/>
            <a:ext cx="512668" cy="0"/>
          </a:xfrm>
          <a:prstGeom prst="straightConnector1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4BD129EB-B3E6-4440-A9F8-5C3F18B709FC}"/>
              </a:ext>
            </a:extLst>
          </p:cNvPr>
          <p:cNvSpPr txBox="1"/>
          <p:nvPr/>
        </p:nvSpPr>
        <p:spPr>
          <a:xfrm>
            <a:off x="1910941" y="780759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CORPUS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9523337B-20C4-4871-B498-A961A9246D84}"/>
              </a:ext>
            </a:extLst>
          </p:cNvPr>
          <p:cNvCxnSpPr>
            <a:cxnSpLocks/>
            <a:stCxn id="35" idx="3"/>
            <a:endCxn id="12" idx="1"/>
          </p:cNvCxnSpPr>
          <p:nvPr/>
        </p:nvCxnSpPr>
        <p:spPr>
          <a:xfrm>
            <a:off x="4914844" y="3206626"/>
            <a:ext cx="500884" cy="2392"/>
          </a:xfrm>
          <a:prstGeom prst="straightConnector1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237E1F7D-9AF7-4181-90DA-ECCDEFBBA9B9}"/>
              </a:ext>
            </a:extLst>
          </p:cNvPr>
          <p:cNvCxnSpPr>
            <a:cxnSpLocks/>
          </p:cNvCxnSpPr>
          <p:nvPr/>
        </p:nvCxnSpPr>
        <p:spPr>
          <a:xfrm>
            <a:off x="2759646" y="3279248"/>
            <a:ext cx="0" cy="400020"/>
          </a:xfrm>
          <a:prstGeom prst="straightConnector1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连接符: 肘形 49">
            <a:extLst>
              <a:ext uri="{FF2B5EF4-FFF2-40B4-BE49-F238E27FC236}">
                <a16:creationId xmlns:a16="http://schemas.microsoft.com/office/drawing/2014/main" id="{BBB5E4EC-1ABC-40D3-8F24-4C696886F50C}"/>
              </a:ext>
            </a:extLst>
          </p:cNvPr>
          <p:cNvCxnSpPr>
            <a:cxnSpLocks/>
            <a:stCxn id="20" idx="2"/>
            <a:endCxn id="35" idx="2"/>
          </p:cNvCxnSpPr>
          <p:nvPr/>
        </p:nvCxnSpPr>
        <p:spPr>
          <a:xfrm rot="5400000">
            <a:off x="7930173" y="614319"/>
            <a:ext cx="12700" cy="10382793"/>
          </a:xfrm>
          <a:prstGeom prst="bentConnector3">
            <a:avLst>
              <a:gd name="adj1" fmla="val 3600000"/>
            </a:avLst>
          </a:prstGeom>
          <a:ln w="38100">
            <a:solidFill>
              <a:schemeClr val="bg2">
                <a:lumMod val="75000"/>
              </a:scheme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756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114</Words>
  <Application>Microsoft Office PowerPoint</Application>
  <PresentationFormat>宽屏</PresentationFormat>
  <Paragraphs>31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23</cp:revision>
  <dcterms:created xsi:type="dcterms:W3CDTF">2026-08-24T23:45:28Z</dcterms:created>
  <dcterms:modified xsi:type="dcterms:W3CDTF">2026-08-26T01:25:03Z</dcterms:modified>
</cp:coreProperties>
</file>